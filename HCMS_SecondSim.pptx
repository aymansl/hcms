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2" r:id="rId5"/>
    <p:sldId id="275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EA69E-E060-43A9-BDBB-6B6C7027DF0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0C70C1-D5C1-4FB6-A721-C320F75A8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28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57419832-DF86-4A09-A0DE-DEECF53FB09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8A679-FD30-4F53-9C63-DB43F8312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F4D3AA-6B32-4BD0-81A0-6E4113EEB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ECA95-F42E-4F13-BCDC-01E8210A2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7E9F9-A810-4FA9-A92D-D8336914C0E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C1C8C-9B0D-4104-B660-AE939C6F7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5CF9A-E9C3-4F7A-8696-9C2CAF4E8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8705-25FA-4FEF-B21E-2EC0D8F3E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83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2F5E0-DF41-4114-B67C-6D681607C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6F225-185A-4C96-9151-AB11DDB5E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870C2-71A1-4BD2-9491-CBA54819A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7E9F9-A810-4FA9-A92D-D8336914C0E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B6529-E14F-446C-8E0D-0C8FB86F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D2DBE-FD42-4698-B3C9-57D8CDDF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8705-25FA-4FEF-B21E-2EC0D8F3E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66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05AA2-619E-46FB-AE51-557751BA6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7DDA3-7A53-497E-B212-0A80DDD28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8AA93-14E6-42FA-ABF0-08D84EFA4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7E9F9-A810-4FA9-A92D-D8336914C0E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88EBF-B189-4E7A-8C56-C8E44780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5F04B-6AAC-49C8-8FDF-B669D75B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8705-25FA-4FEF-B21E-2EC0D8F3E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0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03BA-EA9D-4D3B-96C7-1971072B8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9DC7-FE69-4319-BC99-407B008E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002C4-F92C-40B7-A887-7B6293D42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562FD-9237-4ABC-B33C-A61848D82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7E9F9-A810-4FA9-A92D-D8336914C0E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4D569-DF8D-44B0-9A5B-00E02976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862DE-409B-4A40-BE53-92DF81581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8705-25FA-4FEF-B21E-2EC0D8F3E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45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0AFA0-5BC0-428B-BACF-BA5D365B9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7FB1F-54AB-459C-AAEC-8DE5BB959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A5FD4-13ED-4E2E-BCF2-DDDD7D918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7D9263-6C31-49C9-8F61-4CAB5908F8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DC1B6-D6C4-400B-8CE7-16C531F73A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B56048-8F06-4FAF-B865-3C6A4346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7E9F9-A810-4FA9-A92D-D8336914C0E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4E529F-1E1E-4771-94DD-18CCF7DBB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2B9BE-D4EC-47F1-94BA-A4EC4442E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8705-25FA-4FEF-B21E-2EC0D8F3E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2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69C61-75C4-477A-B01A-C3D2CED9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D40AEE-5289-423D-B562-BBB8D3CC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7E9F9-A810-4FA9-A92D-D8336914C0E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893CA-4958-4E90-813F-3A0DDF888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5A4DF-46C2-430B-87C8-41DE486C5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8705-25FA-4FEF-B21E-2EC0D8F3E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28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6CEF4-02F1-4F28-9F94-84B80284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7E9F9-A810-4FA9-A92D-D8336914C0E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198B2-228E-4A23-961A-E17FC12E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2CCCA-7524-4198-B1C7-F82625B8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8705-25FA-4FEF-B21E-2EC0D8F3E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3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8C7F6-0856-4197-8284-01D3FEFE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738CF-3A68-45D4-8CA1-B92B09A8F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1E0F7-CE65-470C-B180-887E8EE6C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AE361-68D9-4186-8D0D-F8E0CEE82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7E9F9-A810-4FA9-A92D-D8336914C0E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4FD13-8EED-4714-A2B9-B79AA0493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AE93F2-A0FD-4485-B21B-9E2139F32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8705-25FA-4FEF-B21E-2EC0D8F3E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19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EABE8-153A-432D-B8EE-065AC128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C4ED8F-0C3F-4E64-96A2-9D584FF57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FC7F8-EA20-4AE5-AB3B-7D5B5AAA7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7FAF8-11C7-41C2-ABD9-0F32ECC19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7E9F9-A810-4FA9-A92D-D8336914C0E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FF226-6C4A-47CA-922B-8B58015C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698AF-1BAE-44DA-B57D-3B641211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8705-25FA-4FEF-B21E-2EC0D8F3E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86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631E-165C-41C2-8BBE-DE6E301F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9DF57-75F6-403B-86BD-252C6BBDB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ACE34-EF41-4680-80B6-18A19C8C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7E9F9-A810-4FA9-A92D-D8336914C0E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EE169-EBFD-4734-BADF-156DE48D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7E7E1-BDC8-4659-996F-9E0EE62D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8705-25FA-4FEF-B21E-2EC0D8F3E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3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32E973-2FB9-4034-85BF-6BA6B971B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DAE56-A44C-4711-B40F-CC0604F62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1CF92-77E6-470A-AB79-D74DEE78A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7E9F9-A810-4FA9-A92D-D8336914C0E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A7C9D-796C-4381-902F-72585915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9F09E-2550-4C72-BA97-9E355BBC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C8705-25FA-4FEF-B21E-2EC0D8F3E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23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 rtl="1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 rtl="1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 rtl="1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 rtl="1">
              <a:lnSpc>
                <a:spcPct val="100000"/>
              </a:lnSpc>
              <a:buNone/>
              <a:tabLst>
                <a:tab pos="0" algn="l"/>
              </a:tabLst>
            </a:pPr>
            <a:fld id="{F2362D20-4E20-4758-A2FB-D98A66B2DE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 algn="r" defTabSz="914400" rtl="1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r" defTabSz="914400" rtl="1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r" defTabSz="914400" rtl="1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r" defTabSz="914400" rtl="1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r" defTabSz="914400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r" defTabSz="914400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r" defTabSz="914400" rt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312078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5884D-B957-4C5B-9CD1-792060EF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FC98A-D445-4AE4-ADF4-F5FD201D9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D1886-F97D-4887-B55E-ABC5D7D60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7E9F9-A810-4FA9-A92D-D8336914C0E2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113AC-B834-4517-AD5C-CD5E53E99E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4E778-AD8C-4561-98B0-0C4D95B38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C8705-25FA-4FEF-B21E-2EC0D8F3EF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53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1523880" y="235368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228600" indent="0" algn="ct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ar-SY" sz="2800" b="1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هندسة البرمجيات ونظم المعلومات الذكية</a:t>
            </a:r>
          </a:p>
          <a:p>
            <a:pPr marL="228600" indent="0" algn="ct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ar-SY" sz="24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منصة لإدارة مركز صحي</a:t>
            </a:r>
            <a:endParaRPr lang="en-US" sz="24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5001120" y="5387760"/>
            <a:ext cx="2189160" cy="104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 rtl="1">
              <a:lnSpc>
                <a:spcPct val="107000"/>
              </a:lnSpc>
              <a:spcAft>
                <a:spcPts val="799"/>
              </a:spcAft>
            </a:pPr>
            <a:r>
              <a:rPr lang="ar-SA" sz="1800" b="1" u="sng" strike="noStrike">
                <a:solidFill>
                  <a:schemeClr val="dk1"/>
                </a:solidFill>
                <a:effectLst/>
                <a:uFillTx/>
                <a:latin typeface="Calibri"/>
                <a:cs typeface="Traditional Arabic"/>
              </a:rPr>
              <a:t>نوفمبر - </a:t>
            </a:r>
            <a:r>
              <a:rPr lang="en-US" sz="1800" b="1" u="sng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2025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 rtl="1">
              <a:lnSpc>
                <a:spcPct val="100000"/>
              </a:lnSpc>
            </a:pPr>
            <a:br>
              <a:rPr sz="1800"/>
            </a:b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ubtitle 2"/>
          <p:cNvSpPr/>
          <p:nvPr/>
        </p:nvSpPr>
        <p:spPr>
          <a:xfrm>
            <a:off x="1523880" y="3476970"/>
            <a:ext cx="9143280" cy="191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 rtl="1">
              <a:lnSpc>
                <a:spcPct val="100000"/>
              </a:lnSpc>
              <a:spcBef>
                <a:spcPts val="1001"/>
              </a:spcBef>
              <a:spcAft>
                <a:spcPts val="799"/>
              </a:spcAft>
              <a:tabLst>
                <a:tab pos="0" algn="l"/>
              </a:tabLst>
            </a:pPr>
            <a:r>
              <a:rPr lang="ar-SA" sz="1800" b="1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إعداد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spcBef>
                <a:spcPts val="1001"/>
              </a:spcBef>
              <a:spcAft>
                <a:spcPts val="799"/>
              </a:spcAft>
              <a:tabLst>
                <a:tab pos="0" algn="l"/>
              </a:tabLst>
            </a:pPr>
            <a:r>
              <a:rPr lang="ar-SY" sz="1800" b="1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عبدالرحمن البردان  حسين فخر الدين </a:t>
            </a:r>
            <a:r>
              <a:rPr lang="ar-SA" sz="1800" b="1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عبد النبي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raditional Arabic"/>
              </a:rPr>
              <a:t>  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Traditional Arabic"/>
              </a:rPr>
              <a:t>ايمن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raditional Arabic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Traditional Arabic"/>
              </a:rPr>
              <a:t>صليبي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spcBef>
                <a:spcPts val="1001"/>
              </a:spcBef>
              <a:spcAft>
                <a:spcPts val="799"/>
              </a:spcAft>
              <a:tabLst>
                <a:tab pos="0" algn="l"/>
              </a:tabLst>
            </a:pPr>
            <a:r>
              <a:rPr lang="ar-SY" sz="1800" b="1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اشراف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ea typeface="Calibri"/>
              </a:rPr>
              <a:t> :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spcBef>
                <a:spcPts val="1001"/>
              </a:spcBef>
              <a:spcAft>
                <a:spcPts val="799"/>
              </a:spcAft>
              <a:tabLst>
                <a:tab pos="0" algn="l"/>
              </a:tabLst>
            </a:pPr>
            <a:r>
              <a:rPr lang="ar-SY" sz="1800" b="1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د.ماجدة البكور    م.فرح فارس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 rtl="1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مستطيل 1"/>
          <p:cNvSpPr/>
          <p:nvPr/>
        </p:nvSpPr>
        <p:spPr>
          <a:xfrm>
            <a:off x="0" y="0"/>
            <a:ext cx="12191760" cy="16977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 rtl="1">
              <a:lnSpc>
                <a:spcPct val="100000"/>
              </a:lnSpc>
            </a:pPr>
            <a:r>
              <a:rPr lang="ar-SY" sz="6000" b="1" u="none" strike="noStrike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كلية هندسة الذكاء الصنعي</a:t>
            </a:r>
            <a:endParaRPr lang="en-U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D42E6-C1EF-48F0-9692-E01C607CFB0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960" y="763172"/>
            <a:ext cx="10972080" cy="5331655"/>
          </a:xfrm>
        </p:spPr>
        <p:txBody>
          <a:bodyPr>
            <a:normAutofit/>
          </a:bodyPr>
          <a:lstStyle/>
          <a:p>
            <a:pPr marL="457200" indent="-457200" algn="r" defTabSz="914400" rtl="1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r-EG" sz="4000" b="1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الهدف الرئيسي:</a:t>
            </a:r>
            <a:endParaRPr lang="en-US" sz="40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ar-EG" sz="2800" b="0" u="none" strike="noStrike" dirty="0">
                <a:solidFill>
                  <a:schemeClr val="dk1"/>
                </a:solidFill>
                <a:effectLst/>
                <a:uFillTx/>
                <a:latin typeface="Traditional Arabic"/>
                <a:cs typeface="Traditional Arabic"/>
              </a:rPr>
              <a:t>تطوير نظام ويب متكامل لإدارة العمليات اليومية في المراكز الصحية متوسطة الحجم، للانتقال من النظام الورقي المعقد إلى منصة رقمية موحدة ترفع كفاءة الأداء وتحسّن جودة الخدمة المقدمة.</a:t>
            </a: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Traditional Arabic"/>
              <a:cs typeface="Traditional Arabic"/>
            </a:endParaRPr>
          </a:p>
          <a:p>
            <a:pPr marL="228600" indent="-228600" algn="r" defTabSz="914400" rtl="1">
              <a:lnSpc>
                <a:spcPct val="115000"/>
              </a:lnSpc>
              <a:spcBef>
                <a:spcPts val="105"/>
              </a:spcBef>
              <a:spcAft>
                <a:spcPts val="1001"/>
              </a:spcAft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endParaRPr lang="en-US" sz="28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algn="r" rtl="1"/>
            <a:r>
              <a:rPr lang="ar-EG" sz="38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الأهداف الفرعية:</a:t>
            </a:r>
            <a:endParaRPr lang="ar-EG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تسهيل حجز المواعيد وإدارتها إلكترونيًا</a:t>
            </a: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تمكين المرضى من الوصول إلى سجلاتهم الطبية</a:t>
            </a: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تحسين إدارة الصيدلية والمخزون</a:t>
            </a: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أتمتة الفوترة وتقليل الأخطاء البشرية</a:t>
            </a: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توحيد العمل بين الطبيب، الإدارة، والصيدلية</a:t>
            </a:r>
            <a:endParaRPr lang="en-US"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36327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954E8-C228-40ED-A182-C7E4D786A76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92841" y="140676"/>
            <a:ext cx="10972080" cy="6105379"/>
          </a:xfrm>
        </p:spPr>
        <p:txBody>
          <a:bodyPr>
            <a:normAutofit lnSpcReduction="10000"/>
          </a:bodyPr>
          <a:lstStyle/>
          <a:p>
            <a:pPr algn="r" rtl="1">
              <a:lnSpc>
                <a:spcPct val="100000"/>
              </a:lnSpc>
            </a:pPr>
            <a:r>
              <a:rPr lang="ar-EG" sz="24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بيئة العمل المختارة:</a:t>
            </a:r>
            <a:endParaRPr lang="ar-EG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Frontend: HTML5, CSS, JavaScript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Backend: C# </a:t>
            </a:r>
            <a:r>
              <a:rPr lang="ar-EG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باستخدام </a:t>
            </a:r>
            <a:r>
              <a:rPr lang="en-US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ASP.NET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Database: SQL Server</a:t>
            </a:r>
          </a:p>
          <a:p>
            <a:pPr algn="r" rtl="1">
              <a:lnSpc>
                <a:spcPct val="100000"/>
              </a:lnSpc>
            </a:pPr>
            <a:r>
              <a:rPr lang="ar-EG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منهجية التطوير: </a:t>
            </a:r>
            <a:r>
              <a:rPr lang="en-US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Agile (Scrum)</a:t>
            </a:r>
          </a:p>
          <a:p>
            <a:pPr algn="r" rtl="1">
              <a:lnSpc>
                <a:spcPct val="100000"/>
              </a:lnSpc>
            </a:pP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r" rtl="1">
              <a:lnSpc>
                <a:spcPct val="100000"/>
              </a:lnSpc>
            </a:pPr>
            <a:endParaRPr lang="ar-SY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r" rtl="1">
              <a:lnSpc>
                <a:spcPct val="100000"/>
              </a:lnSpc>
            </a:pPr>
            <a:endParaRPr lang="ar-SY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r" rtl="1">
              <a:lnSpc>
                <a:spcPct val="100000"/>
              </a:lnSpc>
            </a:pPr>
            <a:endParaRPr lang="ar-SY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r" rtl="1">
              <a:lnSpc>
                <a:spcPct val="100000"/>
              </a:lnSpc>
            </a:pPr>
            <a:endParaRPr lang="ar-SY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r" rtl="1">
              <a:lnSpc>
                <a:spcPct val="100000"/>
              </a:lnSpc>
            </a:pPr>
            <a:endParaRPr lang="ar-SY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r" rtl="1">
              <a:lnSpc>
                <a:spcPct val="100000"/>
              </a:lnSpc>
            </a:pPr>
            <a:endParaRPr lang="ar-SY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r" rtl="1">
              <a:lnSpc>
                <a:spcPct val="100000"/>
              </a:lnSpc>
            </a:pP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r" rtl="1">
              <a:lnSpc>
                <a:spcPct val="100000"/>
              </a:lnSpc>
            </a:pPr>
            <a:r>
              <a:rPr lang="ar-EG" sz="24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مبررات الاختيار:</a:t>
            </a:r>
            <a:endParaRPr lang="ar-EG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r" rtl="1">
              <a:lnSpc>
                <a:spcPct val="100000"/>
              </a:lnSpc>
            </a:pPr>
            <a:r>
              <a:rPr lang="en-US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:ASP.NET </a:t>
            </a:r>
            <a:r>
              <a:rPr lang="ar-EG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توفر أمانًا عاليًا ودعمًا قويًا لأنظمة الويب الطبية</a:t>
            </a:r>
          </a:p>
          <a:p>
            <a:pPr algn="r" rtl="1">
              <a:lnSpc>
                <a:spcPct val="100000"/>
              </a:lnSpc>
            </a:pPr>
            <a:r>
              <a:rPr lang="en-US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:SQL Server </a:t>
            </a:r>
            <a:r>
              <a:rPr lang="ar-EG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مناسب لإدارة بيانات حساسة وكبيرة مثل السجلات الطبية</a:t>
            </a:r>
          </a:p>
          <a:p>
            <a:pPr algn="r" rtl="1">
              <a:lnSpc>
                <a:spcPct val="100000"/>
              </a:lnSpc>
            </a:pPr>
            <a:r>
              <a:rPr lang="ar-EG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تقنيات الويب المختارة سهلة الاستخدام وقابلة للتوسع</a:t>
            </a:r>
          </a:p>
          <a:p>
            <a:pPr algn="r" rtl="1">
              <a:lnSpc>
                <a:spcPct val="100000"/>
              </a:lnSpc>
            </a:pPr>
            <a:r>
              <a:rPr lang="ar-EG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منهجية </a:t>
            </a:r>
            <a:r>
              <a:rPr lang="en-US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:Agile </a:t>
            </a:r>
            <a:r>
              <a:rPr lang="ar-EG" sz="24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تسمح بالتطوير التدريجي والتعديل السريع بناءً على التغذية الراجعة</a:t>
            </a:r>
            <a:endParaRPr lang="en-US" sz="2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7" name="صورة 1">
            <a:extLst>
              <a:ext uri="{FF2B5EF4-FFF2-40B4-BE49-F238E27FC236}">
                <a16:creationId xmlns:a16="http://schemas.microsoft.com/office/drawing/2014/main" id="{3244C332-2817-4197-937B-1C6E38E9C27B}"/>
              </a:ext>
            </a:extLst>
          </p:cNvPr>
          <p:cNvSpPr/>
          <p:nvPr/>
        </p:nvSpPr>
        <p:spPr>
          <a:xfrm>
            <a:off x="3944259" y="2332620"/>
            <a:ext cx="3130200" cy="21927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softEdge rad="11268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صورة 2">
            <a:extLst>
              <a:ext uri="{FF2B5EF4-FFF2-40B4-BE49-F238E27FC236}">
                <a16:creationId xmlns:a16="http://schemas.microsoft.com/office/drawing/2014/main" id="{2773A3FF-D63E-44B8-BFB4-74782019497C}"/>
              </a:ext>
            </a:extLst>
          </p:cNvPr>
          <p:cNvSpPr/>
          <p:nvPr/>
        </p:nvSpPr>
        <p:spPr>
          <a:xfrm>
            <a:off x="149317" y="2096985"/>
            <a:ext cx="3226320" cy="2192760"/>
          </a:xfrm>
          <a:prstGeom prst="ellipse">
            <a:avLst/>
          </a:prstGeom>
          <a:blipFill rotWithShape="0">
            <a:blip r:embed="rId3"/>
            <a:srcRect/>
            <a:stretch/>
          </a:blipFill>
          <a:ln w="0">
            <a:noFill/>
          </a:ln>
          <a:effectLst>
            <a:softEdge rad="11268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صورة 5">
            <a:extLst>
              <a:ext uri="{FF2B5EF4-FFF2-40B4-BE49-F238E27FC236}">
                <a16:creationId xmlns:a16="http://schemas.microsoft.com/office/drawing/2014/main" id="{E840C1C0-3036-44C7-9B0E-2BCD2CA5C353}"/>
              </a:ext>
            </a:extLst>
          </p:cNvPr>
          <p:cNvSpPr/>
          <p:nvPr/>
        </p:nvSpPr>
        <p:spPr>
          <a:xfrm>
            <a:off x="621459" y="4289745"/>
            <a:ext cx="3322800" cy="1931040"/>
          </a:xfrm>
          <a:prstGeom prst="ellipse">
            <a:avLst/>
          </a:prstGeom>
          <a:blipFill rotWithShape="0">
            <a:blip r:embed="rId4"/>
            <a:srcRect/>
            <a:stretch/>
          </a:blipFill>
          <a:ln w="0">
            <a:noFill/>
          </a:ln>
          <a:effectLst>
            <a:softEdge rad="11268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1769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31A3B-F591-478F-A337-29C7F27C5BB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904903" y="541606"/>
            <a:ext cx="10972080" cy="6316394"/>
          </a:xfrm>
        </p:spPr>
        <p:txBody>
          <a:bodyPr>
            <a:normAutofit/>
          </a:bodyPr>
          <a:lstStyle/>
          <a:p>
            <a:pPr algn="r" rtl="1"/>
            <a:r>
              <a:rPr lang="ar-EG" sz="3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التنفيذ العملي شمل:</a:t>
            </a: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نظام تسجيل ودخول مع صلاحيات مختلفة</a:t>
            </a:r>
          </a:p>
          <a:p>
            <a:pPr algn="r" rtl="1"/>
            <a:r>
              <a:rPr lang="en-US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Patient – Doctor – Admin)</a:t>
            </a:r>
            <a:r>
              <a:rPr lang="ar-SY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)</a:t>
            </a:r>
            <a:endParaRPr lang="en-US"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حجز مواعيد ذكي حيث يقترح النظام تلقائيا الاطباء الانسب للمريض بناءً على تاريخه الصحي واحتياجاته</a:t>
            </a: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فتح سجل المريض من قبل الطبيب</a:t>
            </a: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وإضافة:</a:t>
            </a: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تشخيص</a:t>
            </a: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ملاحظات</a:t>
            </a: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وصفات طبية إلكترونية</a:t>
            </a: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انتقال الوصفات إلى الصيدلية</a:t>
            </a: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وصرفها مع تحديث المخزون تلقائيًا</a:t>
            </a:r>
          </a:p>
          <a:p>
            <a:pPr algn="r" rtl="1"/>
            <a:r>
              <a:rPr lang="ar-EG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إنشاء فواتير بناءً على الخدمات المقدمة</a:t>
            </a:r>
          </a:p>
          <a:p>
            <a:pPr algn="r" rtl="1"/>
            <a:endParaRPr lang="ar-EG"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r" rtl="1"/>
            <a:endParaRPr lang="en-US" sz="3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23308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4600C-A296-459E-9F43-389FC6F12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ar-SY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مخططات 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 UML</a:t>
            </a:r>
          </a:p>
        </p:txBody>
      </p:sp>
    </p:spTree>
    <p:extLst>
      <p:ext uri="{BB962C8B-B14F-4D97-AF65-F5344CB8AC3E}">
        <p14:creationId xmlns:p14="http://schemas.microsoft.com/office/powerpoint/2010/main" val="2202255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5044A5-0856-4949-BD75-B58E4EF481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393700" y="139701"/>
            <a:ext cx="11518900" cy="67183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002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86238F-C0EE-4450-9F0C-9007D69742B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92477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100489-E145-464A-A75A-393C4BD7FA20}"/>
              </a:ext>
            </a:extLst>
          </p:cNvPr>
          <p:cNvSpPr txBox="1"/>
          <p:nvPr/>
        </p:nvSpPr>
        <p:spPr>
          <a:xfrm>
            <a:off x="8851900" y="2707620"/>
            <a:ext cx="2730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EG" sz="28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تسجيل حساب مريض</a:t>
            </a:r>
            <a:endParaRPr lang="en-US" sz="28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43158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D5BEF4-AEFE-439D-B763-364C8FAB00F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469900"/>
            <a:ext cx="10960099" cy="59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457CB4-F753-4474-B933-BFDAD440BDE5}"/>
              </a:ext>
            </a:extLst>
          </p:cNvPr>
          <p:cNvSpPr txBox="1"/>
          <p:nvPr/>
        </p:nvSpPr>
        <p:spPr>
          <a:xfrm>
            <a:off x="2540000" y="8235"/>
            <a:ext cx="711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EG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تسجيل حساب مريض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88876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1298</TotalTime>
  <Words>246</Words>
  <Application>Microsoft Office PowerPoint</Application>
  <PresentationFormat>Widescreen</PresentationFormat>
  <Paragraphs>52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Times New Roman</vt:lpstr>
      <vt:lpstr>Traditional Arabic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مخططات  UML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Abdullrhman SPU</dc:creator>
  <cp:lastModifiedBy>Abdullrhman SPU</cp:lastModifiedBy>
  <cp:revision>15</cp:revision>
  <dcterms:created xsi:type="dcterms:W3CDTF">2025-12-18T09:11:41Z</dcterms:created>
  <dcterms:modified xsi:type="dcterms:W3CDTF">2025-12-22T18:17:32Z</dcterms:modified>
</cp:coreProperties>
</file>