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9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16T22:38:17.217" idx="1">
    <p:pos x="0" y="0"/>
    <p:text/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61A577-C2B1-499D-B1C3-ED4DF2729FA1}" type="doc">
      <dgm:prSet loTypeId="urn:microsoft.com/office/officeart/2005/8/layout/hChevron3" loCatId="process" qsTypeId="urn:microsoft.com/office/officeart/2005/8/quickstyle/3d7" qsCatId="3D" csTypeId="urn:microsoft.com/office/officeart/2005/8/colors/accent3_5" csCatId="accent3" phldr="1"/>
      <dgm:spPr/>
    </dgm:pt>
    <dgm:pt modelId="{5A95B18C-0BAC-47BE-B4BB-59604CB391BF}">
      <dgm:prSet phldrT="[Text]" custT="1"/>
      <dgm:spPr/>
      <dgm:t>
        <a:bodyPr/>
        <a:lstStyle/>
        <a:p>
          <a:pPr rtl="1">
            <a:lnSpc>
              <a:spcPct val="100000"/>
            </a:lnSpc>
          </a:pPr>
          <a:r>
            <a:rPr lang="ar-SY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الدراسة والتخطيط</a:t>
          </a:r>
          <a:endParaRPr lang="ar-EG" sz="3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gm:t>
    </dgm:pt>
    <dgm:pt modelId="{639EFB64-235F-44A2-8188-AB0795FD92CF}" type="parTrans" cxnId="{10D419C1-CC26-4C40-85ED-E0B094FDD422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DA8EA0-DF04-4CDC-AF06-04E0A797011A}" type="sibTrans" cxnId="{10D419C1-CC26-4C40-85ED-E0B094FDD422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70098E-FBC3-4072-B3F4-0A360818A49C}">
      <dgm:prSet phldrT="[Text]"/>
      <dgm:spPr/>
      <dgm:t>
        <a:bodyPr/>
        <a:lstStyle/>
        <a:p>
          <a:pPr rtl="1"/>
          <a:r>
            <a:rPr lang="ar-S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التحليل</a:t>
          </a:r>
          <a:endParaRPr lang="ar-EG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gm:t>
    </dgm:pt>
    <dgm:pt modelId="{07261D11-E370-4F50-9FE3-3FE342D198EB}" type="parTrans" cxnId="{06933ABD-C9A3-497E-88C8-4609DCEC1A3B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5C99D8-4B83-4AAD-A646-FC082FB21EB2}" type="sibTrans" cxnId="{06933ABD-C9A3-497E-88C8-4609DCEC1A3B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42DAAE-85B7-4B38-B155-D549905697FE}">
      <dgm:prSet phldrT="[Text]"/>
      <dgm:spPr/>
      <dgm:t>
        <a:bodyPr/>
        <a:lstStyle/>
        <a:p>
          <a:pPr rtl="1"/>
          <a:r>
            <a:rPr lang="ar-S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التصميم</a:t>
          </a:r>
          <a:endParaRPr lang="ar-EG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gm:t>
    </dgm:pt>
    <dgm:pt modelId="{30FD9F24-3312-494D-8AA4-9ED2C87D1F08}" type="parTrans" cxnId="{ACD889DE-F0CB-486C-8914-052CB0864F82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18AB169-1282-448A-897E-E1FDB4950608}" type="sibTrans" cxnId="{ACD889DE-F0CB-486C-8914-052CB0864F82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0F3454-A190-43CE-BF4D-6C3A70C79699}">
      <dgm:prSet phldrT="[Text]"/>
      <dgm:spPr/>
      <dgm:t>
        <a:bodyPr/>
        <a:lstStyle/>
        <a:p>
          <a:pPr rtl="1"/>
          <a:r>
            <a:rPr lang="ar-S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الإختبار والتقييم</a:t>
          </a:r>
          <a:endParaRPr lang="ar-EG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gm:t>
    </dgm:pt>
    <dgm:pt modelId="{AE885F7F-50CE-48CC-86B4-C7F55CC62E66}" type="parTrans" cxnId="{17AC795A-9FD4-46AD-A96E-85946E1E5C29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FC1729-79AE-4EE3-BF93-88DB51CB3D61}" type="sibTrans" cxnId="{17AC795A-9FD4-46AD-A96E-85946E1E5C29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C430AF2-B75C-447D-840A-0D0AE79D1A1C}">
      <dgm:prSet phldrT="[Text]"/>
      <dgm:spPr/>
      <dgm:t>
        <a:bodyPr/>
        <a:lstStyle/>
        <a:p>
          <a:pPr rtl="1"/>
          <a:r>
            <a:rPr lang="ar-S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التنفيذ</a:t>
          </a:r>
          <a:endParaRPr lang="ar-EG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gm:t>
    </dgm:pt>
    <dgm:pt modelId="{0E091A9B-B6AF-45FA-9DC1-635F91A506D1}" type="parTrans" cxnId="{B9D18BB6-ACAF-4105-A0A1-11758588B172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2173DA-A93E-41A9-8A70-018576D76E6A}" type="sibTrans" cxnId="{B9D18BB6-ACAF-4105-A0A1-11758588B172}">
      <dgm:prSet/>
      <dgm:spPr/>
      <dgm:t>
        <a:bodyPr/>
        <a:lstStyle/>
        <a:p>
          <a:pPr rtl="1"/>
          <a:endParaRPr lang="ar-EG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F83488-5CA8-43DB-A2CE-7A1972489D93}" type="pres">
      <dgm:prSet presAssocID="{7D61A577-C2B1-499D-B1C3-ED4DF2729FA1}" presName="Name0" presStyleCnt="0">
        <dgm:presLayoutVars>
          <dgm:dir/>
          <dgm:resizeHandles val="exact"/>
        </dgm:presLayoutVars>
      </dgm:prSet>
      <dgm:spPr/>
    </dgm:pt>
    <dgm:pt modelId="{A74AC0DD-63EE-4760-BF18-24DC55938BDA}" type="pres">
      <dgm:prSet presAssocID="{5A95B18C-0BAC-47BE-B4BB-59604CB391BF}" presName="parTxOnly" presStyleLbl="node1" presStyleIdx="0" presStyleCnt="5">
        <dgm:presLayoutVars>
          <dgm:bulletEnabled val="1"/>
        </dgm:presLayoutVars>
      </dgm:prSet>
      <dgm:spPr/>
    </dgm:pt>
    <dgm:pt modelId="{0595E4A6-03F3-4F34-A3DB-AD65FE54F6C9}" type="pres">
      <dgm:prSet presAssocID="{CBDA8EA0-DF04-4CDC-AF06-04E0A797011A}" presName="parSpace" presStyleCnt="0"/>
      <dgm:spPr/>
    </dgm:pt>
    <dgm:pt modelId="{EE6E5752-0617-41B9-AB93-F25EC8B3D8AA}" type="pres">
      <dgm:prSet presAssocID="{A570098E-FBC3-4072-B3F4-0A360818A49C}" presName="parTxOnly" presStyleLbl="node1" presStyleIdx="1" presStyleCnt="5">
        <dgm:presLayoutVars>
          <dgm:bulletEnabled val="1"/>
        </dgm:presLayoutVars>
      </dgm:prSet>
      <dgm:spPr/>
    </dgm:pt>
    <dgm:pt modelId="{DDFA13A4-3239-42CB-BC78-5E6271E72D04}" type="pres">
      <dgm:prSet presAssocID="{455C99D8-4B83-4AAD-A646-FC082FB21EB2}" presName="parSpace" presStyleCnt="0"/>
      <dgm:spPr/>
    </dgm:pt>
    <dgm:pt modelId="{D5FF211E-25F5-4BFE-B17B-A364D650878F}" type="pres">
      <dgm:prSet presAssocID="{CB42DAAE-85B7-4B38-B155-D549905697FE}" presName="parTxOnly" presStyleLbl="node1" presStyleIdx="2" presStyleCnt="5">
        <dgm:presLayoutVars>
          <dgm:bulletEnabled val="1"/>
        </dgm:presLayoutVars>
      </dgm:prSet>
      <dgm:spPr/>
    </dgm:pt>
    <dgm:pt modelId="{2DD348F5-3F88-4964-9FD0-7664056DB2F8}" type="pres">
      <dgm:prSet presAssocID="{218AB169-1282-448A-897E-E1FDB4950608}" presName="parSpace" presStyleCnt="0"/>
      <dgm:spPr/>
    </dgm:pt>
    <dgm:pt modelId="{23EF8BA3-2871-4E2E-94F8-447DCA9ABF79}" type="pres">
      <dgm:prSet presAssocID="{CC430AF2-B75C-447D-840A-0D0AE79D1A1C}" presName="parTxOnly" presStyleLbl="node1" presStyleIdx="3" presStyleCnt="5">
        <dgm:presLayoutVars>
          <dgm:bulletEnabled val="1"/>
        </dgm:presLayoutVars>
      </dgm:prSet>
      <dgm:spPr/>
    </dgm:pt>
    <dgm:pt modelId="{D32CD0DA-BB0A-4939-A196-6E7F06DE7140}" type="pres">
      <dgm:prSet presAssocID="{422173DA-A93E-41A9-8A70-018576D76E6A}" presName="parSpace" presStyleCnt="0"/>
      <dgm:spPr/>
    </dgm:pt>
    <dgm:pt modelId="{7CFF441D-F1F3-4C78-A931-8449CECA4EFB}" type="pres">
      <dgm:prSet presAssocID="{DA0F3454-A190-43CE-BF4D-6C3A70C79699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788EED16-6E1D-49FB-AF6C-892E7380733A}" type="presOf" srcId="{5A95B18C-0BAC-47BE-B4BB-59604CB391BF}" destId="{A74AC0DD-63EE-4760-BF18-24DC55938BDA}" srcOrd="0" destOrd="0" presId="urn:microsoft.com/office/officeart/2005/8/layout/hChevron3"/>
    <dgm:cxn modelId="{6D3C7725-F00B-41CA-B832-75E0887C603E}" type="presOf" srcId="{CB42DAAE-85B7-4B38-B155-D549905697FE}" destId="{D5FF211E-25F5-4BFE-B17B-A364D650878F}" srcOrd="0" destOrd="0" presId="urn:microsoft.com/office/officeart/2005/8/layout/hChevron3"/>
    <dgm:cxn modelId="{6863263B-5E08-4445-B5D4-C19DC573B937}" type="presOf" srcId="{CC430AF2-B75C-447D-840A-0D0AE79D1A1C}" destId="{23EF8BA3-2871-4E2E-94F8-447DCA9ABF79}" srcOrd="0" destOrd="0" presId="urn:microsoft.com/office/officeart/2005/8/layout/hChevron3"/>
    <dgm:cxn modelId="{AC740E58-23A7-4234-8845-1E6530AB80AE}" type="presOf" srcId="{7D61A577-C2B1-499D-B1C3-ED4DF2729FA1}" destId="{DFF83488-5CA8-43DB-A2CE-7A1972489D93}" srcOrd="0" destOrd="0" presId="urn:microsoft.com/office/officeart/2005/8/layout/hChevron3"/>
    <dgm:cxn modelId="{17AC795A-9FD4-46AD-A96E-85946E1E5C29}" srcId="{7D61A577-C2B1-499D-B1C3-ED4DF2729FA1}" destId="{DA0F3454-A190-43CE-BF4D-6C3A70C79699}" srcOrd="4" destOrd="0" parTransId="{AE885F7F-50CE-48CC-86B4-C7F55CC62E66}" sibTransId="{04FC1729-79AE-4EE3-BF93-88DB51CB3D61}"/>
    <dgm:cxn modelId="{B9D18BB6-ACAF-4105-A0A1-11758588B172}" srcId="{7D61A577-C2B1-499D-B1C3-ED4DF2729FA1}" destId="{CC430AF2-B75C-447D-840A-0D0AE79D1A1C}" srcOrd="3" destOrd="0" parTransId="{0E091A9B-B6AF-45FA-9DC1-635F91A506D1}" sibTransId="{422173DA-A93E-41A9-8A70-018576D76E6A}"/>
    <dgm:cxn modelId="{06933ABD-C9A3-497E-88C8-4609DCEC1A3B}" srcId="{7D61A577-C2B1-499D-B1C3-ED4DF2729FA1}" destId="{A570098E-FBC3-4072-B3F4-0A360818A49C}" srcOrd="1" destOrd="0" parTransId="{07261D11-E370-4F50-9FE3-3FE342D198EB}" sibTransId="{455C99D8-4B83-4AAD-A646-FC082FB21EB2}"/>
    <dgm:cxn modelId="{10D419C1-CC26-4C40-85ED-E0B094FDD422}" srcId="{7D61A577-C2B1-499D-B1C3-ED4DF2729FA1}" destId="{5A95B18C-0BAC-47BE-B4BB-59604CB391BF}" srcOrd="0" destOrd="0" parTransId="{639EFB64-235F-44A2-8188-AB0795FD92CF}" sibTransId="{CBDA8EA0-DF04-4CDC-AF06-04E0A797011A}"/>
    <dgm:cxn modelId="{823B32C9-4689-46D1-ADB1-109D00DDCE9C}" type="presOf" srcId="{A570098E-FBC3-4072-B3F4-0A360818A49C}" destId="{EE6E5752-0617-41B9-AB93-F25EC8B3D8AA}" srcOrd="0" destOrd="0" presId="urn:microsoft.com/office/officeart/2005/8/layout/hChevron3"/>
    <dgm:cxn modelId="{ACD889DE-F0CB-486C-8914-052CB0864F82}" srcId="{7D61A577-C2B1-499D-B1C3-ED4DF2729FA1}" destId="{CB42DAAE-85B7-4B38-B155-D549905697FE}" srcOrd="2" destOrd="0" parTransId="{30FD9F24-3312-494D-8AA4-9ED2C87D1F08}" sibTransId="{218AB169-1282-448A-897E-E1FDB4950608}"/>
    <dgm:cxn modelId="{A85876F5-38DB-41C1-95E8-B643688512CD}" type="presOf" srcId="{DA0F3454-A190-43CE-BF4D-6C3A70C79699}" destId="{7CFF441D-F1F3-4C78-A931-8449CECA4EFB}" srcOrd="0" destOrd="0" presId="urn:microsoft.com/office/officeart/2005/8/layout/hChevron3"/>
    <dgm:cxn modelId="{D55BC52D-FAE8-44C2-A0ED-001CCA3547AF}" type="presParOf" srcId="{DFF83488-5CA8-43DB-A2CE-7A1972489D93}" destId="{A74AC0DD-63EE-4760-BF18-24DC55938BDA}" srcOrd="0" destOrd="0" presId="urn:microsoft.com/office/officeart/2005/8/layout/hChevron3"/>
    <dgm:cxn modelId="{CA39FEC9-AB26-459D-B027-D8CFB9028AD4}" type="presParOf" srcId="{DFF83488-5CA8-43DB-A2CE-7A1972489D93}" destId="{0595E4A6-03F3-4F34-A3DB-AD65FE54F6C9}" srcOrd="1" destOrd="0" presId="urn:microsoft.com/office/officeart/2005/8/layout/hChevron3"/>
    <dgm:cxn modelId="{F9E9BA21-0132-424F-AEA6-2B76845075DA}" type="presParOf" srcId="{DFF83488-5CA8-43DB-A2CE-7A1972489D93}" destId="{EE6E5752-0617-41B9-AB93-F25EC8B3D8AA}" srcOrd="2" destOrd="0" presId="urn:microsoft.com/office/officeart/2005/8/layout/hChevron3"/>
    <dgm:cxn modelId="{CBC70E52-34E7-4EC3-98C9-56381FC5FBA0}" type="presParOf" srcId="{DFF83488-5CA8-43DB-A2CE-7A1972489D93}" destId="{DDFA13A4-3239-42CB-BC78-5E6271E72D04}" srcOrd="3" destOrd="0" presId="urn:microsoft.com/office/officeart/2005/8/layout/hChevron3"/>
    <dgm:cxn modelId="{7E49E3B3-C904-4136-B42A-ADAEE75C3C20}" type="presParOf" srcId="{DFF83488-5CA8-43DB-A2CE-7A1972489D93}" destId="{D5FF211E-25F5-4BFE-B17B-A364D650878F}" srcOrd="4" destOrd="0" presId="urn:microsoft.com/office/officeart/2005/8/layout/hChevron3"/>
    <dgm:cxn modelId="{2FDFCA6D-943C-4E9F-9B59-5599B95E24E0}" type="presParOf" srcId="{DFF83488-5CA8-43DB-A2CE-7A1972489D93}" destId="{2DD348F5-3F88-4964-9FD0-7664056DB2F8}" srcOrd="5" destOrd="0" presId="urn:microsoft.com/office/officeart/2005/8/layout/hChevron3"/>
    <dgm:cxn modelId="{BCE9609A-A9C5-437B-81F1-CDA3E02934D2}" type="presParOf" srcId="{DFF83488-5CA8-43DB-A2CE-7A1972489D93}" destId="{23EF8BA3-2871-4E2E-94F8-447DCA9ABF79}" srcOrd="6" destOrd="0" presId="urn:microsoft.com/office/officeart/2005/8/layout/hChevron3"/>
    <dgm:cxn modelId="{466F0BE0-33FA-49AD-B487-20C0A2C4CBCD}" type="presParOf" srcId="{DFF83488-5CA8-43DB-A2CE-7A1972489D93}" destId="{D32CD0DA-BB0A-4939-A196-6E7F06DE7140}" srcOrd="7" destOrd="0" presId="urn:microsoft.com/office/officeart/2005/8/layout/hChevron3"/>
    <dgm:cxn modelId="{7E20BD48-CD34-4ACF-A18A-944F15686EA1}" type="presParOf" srcId="{DFF83488-5CA8-43DB-A2CE-7A1972489D93}" destId="{7CFF441D-F1F3-4C78-A931-8449CECA4EFB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AC0DD-63EE-4760-BF18-24DC55938BDA}">
      <dsp:nvSpPr>
        <dsp:cNvPr id="0" name=""/>
        <dsp:cNvSpPr/>
      </dsp:nvSpPr>
      <dsp:spPr>
        <a:xfrm>
          <a:off x="1111" y="604923"/>
          <a:ext cx="2168384" cy="867353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74676" rIns="37338" bIns="74676" numCol="1" spcCol="1270" anchor="ctr" anchorCtr="0">
          <a:noAutofit/>
        </a:bodyPr>
        <a:lstStyle/>
        <a:p>
          <a:pPr marL="0" lvl="0" indent="0" algn="ctr" defTabSz="12446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Y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الدراسة والتخطيط</a:t>
          </a:r>
          <a:endParaRPr lang="ar-EG" sz="3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sp:txBody>
      <dsp:txXfrm>
        <a:off x="1111" y="604923"/>
        <a:ext cx="1951546" cy="867353"/>
      </dsp:txXfrm>
    </dsp:sp>
    <dsp:sp modelId="{EE6E5752-0617-41B9-AB93-F25EC8B3D8AA}">
      <dsp:nvSpPr>
        <dsp:cNvPr id="0" name=""/>
        <dsp:cNvSpPr/>
      </dsp:nvSpPr>
      <dsp:spPr>
        <a:xfrm>
          <a:off x="1735819" y="604923"/>
          <a:ext cx="2168384" cy="867353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1000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Y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التحليل</a:t>
          </a:r>
          <a:endParaRPr lang="ar-EG" sz="2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sp:txBody>
      <dsp:txXfrm>
        <a:off x="2169496" y="604923"/>
        <a:ext cx="1301031" cy="867353"/>
      </dsp:txXfrm>
    </dsp:sp>
    <dsp:sp modelId="{D5FF211E-25F5-4BFE-B17B-A364D650878F}">
      <dsp:nvSpPr>
        <dsp:cNvPr id="0" name=""/>
        <dsp:cNvSpPr/>
      </dsp:nvSpPr>
      <dsp:spPr>
        <a:xfrm>
          <a:off x="3470527" y="604923"/>
          <a:ext cx="2168384" cy="867353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Y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التصميم</a:t>
          </a:r>
          <a:endParaRPr lang="ar-EG" sz="2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sp:txBody>
      <dsp:txXfrm>
        <a:off x="3904204" y="604923"/>
        <a:ext cx="1301031" cy="867353"/>
      </dsp:txXfrm>
    </dsp:sp>
    <dsp:sp modelId="{23EF8BA3-2871-4E2E-94F8-447DCA9ABF79}">
      <dsp:nvSpPr>
        <dsp:cNvPr id="0" name=""/>
        <dsp:cNvSpPr/>
      </dsp:nvSpPr>
      <dsp:spPr>
        <a:xfrm>
          <a:off x="5205235" y="604923"/>
          <a:ext cx="2168384" cy="867353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3000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Y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التنفيذ</a:t>
          </a:r>
          <a:endParaRPr lang="ar-EG" sz="2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sp:txBody>
      <dsp:txXfrm>
        <a:off x="5638912" y="604923"/>
        <a:ext cx="1301031" cy="867353"/>
      </dsp:txXfrm>
    </dsp:sp>
    <dsp:sp modelId="{7CFF441D-F1F3-4C78-A931-8449CECA4EFB}">
      <dsp:nvSpPr>
        <dsp:cNvPr id="0" name=""/>
        <dsp:cNvSpPr/>
      </dsp:nvSpPr>
      <dsp:spPr>
        <a:xfrm>
          <a:off x="6939943" y="604923"/>
          <a:ext cx="2168384" cy="867353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4011" tIns="56007" rIns="28004" bIns="56007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Y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rPr>
            <a:t>الإختبار والتقييم</a:t>
          </a:r>
          <a:endParaRPr lang="ar-EG" sz="2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aditional Arabic" panose="02020603050405020304" pitchFamily="18" charset="-78"/>
            <a:cs typeface="Traditional Arabic" panose="02020603050405020304" pitchFamily="18" charset="-78"/>
          </a:endParaRPr>
        </a:p>
      </dsp:txBody>
      <dsp:txXfrm>
        <a:off x="7373620" y="604923"/>
        <a:ext cx="1301031" cy="867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6D1384-B0FB-4D42-B0F4-6CF4083CF8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57419832-DF86-4A09-A0DE-DEECF53FB0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F2362D20-4E20-4758-A2FB-D98A66B2D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r" defTabSz="914400" rtl="1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r" defTabSz="914400" rtl="1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r" defTabSz="914400" rtl="1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r" defTabSz="914400" rtl="1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F029AC0C-C14C-499B-A0D5-8E85C3F49C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algn="r" defTabSz="914400" rtl="1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r" defTabSz="914400" rtl="1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r" defTabSz="914400" rtl="1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r" defTabSz="914400" rtl="1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83234BA0-0332-4D07-90E6-F80179C964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AD66871E-E235-4058-A45B-9BF746E6C5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CE15609D-67E5-4558-A60E-320EFB5657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F65F07C8-80AB-4E95-AB30-05A8547580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D3027DD1-85C2-4C97-B214-71D3C3A8AF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3E315606-3DE6-4E1C-BDAD-7275A3D277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10C6CEFE-F5AB-4943-A43A-00C0593CFA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B474E31F-D8BB-4CDB-8056-6BD99F692D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4224A63B-BDD1-4750-A892-36566CA935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rtl="1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235368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0" algn="ct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r-SY" sz="2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هندسة البرمجيات ونظم المعلومات الذكية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5001120" y="5387760"/>
            <a:ext cx="2189160" cy="10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ct val="107000"/>
              </a:lnSpc>
              <a:spcAft>
                <a:spcPts val="799"/>
              </a:spcAft>
            </a:pPr>
            <a:r>
              <a:rPr lang="ar-SA" sz="1800" b="1" u="sng" strike="noStrike">
                <a:solidFill>
                  <a:schemeClr val="dk1"/>
                </a:solidFill>
                <a:effectLst/>
                <a:uFillTx/>
                <a:latin typeface="Calibri"/>
                <a:cs typeface="Traditional Arabic"/>
              </a:rPr>
              <a:t>نوفمبر - </a:t>
            </a:r>
            <a:r>
              <a:rPr lang="en-US" sz="1800" b="1" u="sng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</a:pP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ubtitle 2"/>
          <p:cNvSpPr/>
          <p:nvPr/>
        </p:nvSpPr>
        <p:spPr>
          <a:xfrm>
            <a:off x="1523880" y="3042720"/>
            <a:ext cx="914328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A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إعداد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Y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عبدالرحمن البردان  حسين فخر الدين </a:t>
            </a:r>
            <a:r>
              <a:rPr lang="ar-SA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عبد النبي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   ايمن صليبي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Y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اشراف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libri"/>
              </a:rPr>
              <a:t>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Y" sz="1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د.ماجدة البكور    م.فرح فارس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مستطيل 1"/>
          <p:cNvSpPr/>
          <p:nvPr/>
        </p:nvSpPr>
        <p:spPr>
          <a:xfrm>
            <a:off x="0" y="0"/>
            <a:ext cx="12191760" cy="1697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60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كلية هندسة الذكاء الصنعي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360" y="685800"/>
            <a:ext cx="12191400" cy="571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/>
          <a:p>
            <a:pPr marL="571680" indent="-571680" algn="r" defTabSz="914400" rt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 رؤية المشروع: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ar-EG" sz="28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الرؤية: نطمح لتحسين تجربة الرعاية الصحية من خلال نظام ذكي يربط بين التقنية الحديثة والخدمات الطبية، ليصبح المركز الصحي بيئة أكثر كفاءة وسهولة للمرضى والطواقم الطبية معاً.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r" defTabSz="914400" rt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40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الهدف الرئيسي: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28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تطوير نظام ويب متكامل لإدارة العمليات اليومية في المراكز الصحية متوسطة الحجم، للانتقال من النظام الورقي المعقد إلى منصة رقمية موحدة ترفع كفاءة الأداء وتحسّن جودة الخدمة المقدمة.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228600" y="457920"/>
            <a:ext cx="1177236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r" defTabSz="914400" rtl="1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r-EG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التحديات التي واجه</a:t>
            </a:r>
            <a:r>
              <a:rPr lang="ar-SY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ته</a:t>
            </a:r>
            <a:r>
              <a:rPr lang="ar-EG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 المر</a:t>
            </a:r>
            <a:r>
              <a:rPr lang="ar-SY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</a:t>
            </a:r>
            <a:r>
              <a:rPr lang="ar-EG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كز الصحي</a:t>
            </a:r>
            <a:r>
              <a:rPr lang="ar-SY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ة</a:t>
            </a:r>
            <a:r>
              <a:rPr lang="en-US" sz="5100" b="1" u="sng" strike="noStrike" dirty="0">
                <a:solidFill>
                  <a:schemeClr val="dk1"/>
                </a:solidFill>
                <a:effectLst/>
                <a:uFillTx/>
                <a:latin typeface="Traditional Arabic"/>
              </a:rPr>
              <a:t>:</a:t>
            </a:r>
            <a:endParaRPr lang="en-US" sz="51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-914400" algn="r" defTabSz="914400" rtl="1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ar-EG" sz="4500" b="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نظام ورقي قديم</a:t>
            </a:r>
            <a:endParaRPr lang="en-US" sz="45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-914400" algn="r" defTabSz="914400" rtl="1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ar-EG" sz="4500" b="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عمليات غير متكاملة</a:t>
            </a:r>
            <a:endParaRPr lang="en-US" sz="45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-914400" algn="r" defTabSz="914400" rtl="1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ar-EG" sz="4500" b="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مخاطر صحية</a:t>
            </a:r>
            <a:endParaRPr lang="en-US" sz="45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45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النتيجة: </a:t>
            </a:r>
            <a:r>
              <a:rPr lang="ar-EG" sz="4500" b="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هدر للوقت والموارد، وتجربة سيئة للمرضى، ومخاطر على السلامة.</a:t>
            </a:r>
            <a:endParaRPr lang="en-US" sz="45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algn="r" defTabSz="914400" rtl="1">
              <a:lnSpc>
                <a:spcPct val="100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32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الحل الذي نقدمه وأهمية المشروع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ar-EG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الحل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: تطوير نظام إدارة المركز الص</a:t>
            </a:r>
            <a:r>
              <a:rPr lang="ar-SA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حي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Traditional Arabic"/>
                <a:ea typeface="Cambria"/>
              </a:rPr>
              <a:t>(HCMS) </a:t>
            </a:r>
            <a:r>
              <a:rPr lang="ar-SA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وهو نظام ويب آمن ومتكامل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</a:t>
            </a:r>
            <a:r>
              <a:rPr lang="ar-EG" sz="2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الأهمية والفوائد المتوقعة: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للمرضى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    </a:t>
            </a:r>
            <a:r>
              <a:rPr lang="ar-EG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تحويلهم من متلقين سلبيين إلى شركاء فاعلين في رعايتهم الصحية. بوابة آمنة لتسجيل المواعيد ومشاهدة السجلات الصحية والوصفات.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للفريق الطبي والإداري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: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    </a:t>
            </a:r>
            <a:r>
              <a:rPr lang="ar-EG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كفاءة أعلى: أتمتة المهام الروتينية (المواعيد، الفواتير).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    </a:t>
            </a:r>
            <a:r>
              <a:rPr lang="ar-EG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سلامة أفضل: تنبيهات انتهاء صلاحية الأدوية.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    </a:t>
            </a:r>
            <a:r>
              <a:rPr lang="ar-EG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تكامل كامل: ربط العيادة، الصيدلية، والإدارة في نظام واحد.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للمركز ككل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    </a:t>
            </a:r>
            <a:r>
              <a:rPr lang="ar-EG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الانتقال من الفوضى الورقية إلى المنصة الرقمية الموحدة.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ea typeface="Cambria"/>
              </a:rPr>
              <a:t>       </a:t>
            </a:r>
            <a:r>
              <a:rPr lang="ar-EG" sz="24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تقليل التكاليف التشغيلية وزيادة الإنتاجية.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760" y="167040"/>
            <a:ext cx="10514880" cy="6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r" rtl="1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مستطيل 3"/>
          <p:cNvSpPr/>
          <p:nvPr/>
        </p:nvSpPr>
        <p:spPr>
          <a:xfrm>
            <a:off x="0" y="0"/>
            <a:ext cx="12191760" cy="923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A" sz="3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مخطط حالات الأستخدام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صورة 2"/>
          <p:cNvPicPr/>
          <p:nvPr/>
        </p:nvPicPr>
        <p:blipFill>
          <a:blip r:embed="rId2"/>
          <a:stretch/>
        </p:blipFill>
        <p:spPr>
          <a:xfrm>
            <a:off x="0" y="960480"/>
            <a:ext cx="12120120" cy="5896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43000" y="70162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ar-EG" sz="4400" b="1" u="none" strike="noStrike">
                <a:solidFill>
                  <a:srgbClr val="1A1A1A"/>
                </a:solidFill>
                <a:effectLst/>
                <a:uFillTx/>
                <a:latin typeface="Traditional Arabic"/>
                <a:cs typeface="Traditional Arabic"/>
              </a:rPr>
              <a:t>مقارنة مشاريع مراكز صحية سابقة</a:t>
            </a: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Traditional Arabic"/>
              </a:rPr>
              <a:t>: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A902C3-A344-420F-846E-66EB0B199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4343915"/>
              </p:ext>
            </p:extLst>
          </p:nvPr>
        </p:nvGraphicFramePr>
        <p:xfrm>
          <a:off x="534120" y="1727458"/>
          <a:ext cx="11420270" cy="3542373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254697">
                  <a:extLst>
                    <a:ext uri="{9D8B030D-6E8A-4147-A177-3AD203B41FA5}">
                      <a16:colId xmlns:a16="http://schemas.microsoft.com/office/drawing/2014/main" val="3994273034"/>
                    </a:ext>
                  </a:extLst>
                </a:gridCol>
                <a:gridCol w="1585778">
                  <a:extLst>
                    <a:ext uri="{9D8B030D-6E8A-4147-A177-3AD203B41FA5}">
                      <a16:colId xmlns:a16="http://schemas.microsoft.com/office/drawing/2014/main" val="3075288894"/>
                    </a:ext>
                  </a:extLst>
                </a:gridCol>
                <a:gridCol w="1420238">
                  <a:extLst>
                    <a:ext uri="{9D8B030D-6E8A-4147-A177-3AD203B41FA5}">
                      <a16:colId xmlns:a16="http://schemas.microsoft.com/office/drawing/2014/main" val="3581499574"/>
                    </a:ext>
                  </a:extLst>
                </a:gridCol>
                <a:gridCol w="2470826">
                  <a:extLst>
                    <a:ext uri="{9D8B030D-6E8A-4147-A177-3AD203B41FA5}">
                      <a16:colId xmlns:a16="http://schemas.microsoft.com/office/drawing/2014/main" val="271524859"/>
                    </a:ext>
                  </a:extLst>
                </a:gridCol>
                <a:gridCol w="1595336">
                  <a:extLst>
                    <a:ext uri="{9D8B030D-6E8A-4147-A177-3AD203B41FA5}">
                      <a16:colId xmlns:a16="http://schemas.microsoft.com/office/drawing/2014/main" val="4188129563"/>
                    </a:ext>
                  </a:extLst>
                </a:gridCol>
                <a:gridCol w="3093395">
                  <a:extLst>
                    <a:ext uri="{9D8B030D-6E8A-4147-A177-3AD203B41FA5}">
                      <a16:colId xmlns:a16="http://schemas.microsoft.com/office/drawing/2014/main" val="893633646"/>
                    </a:ext>
                  </a:extLst>
                </a:gridCol>
              </a:tblGrid>
              <a:tr h="1062712">
                <a:tc>
                  <a:txBody>
                    <a:bodyPr/>
                    <a:lstStyle/>
                    <a:p>
                      <a:pPr algn="ctr" rtl="1"/>
                      <a:r>
                        <a:rPr lang="ar-SA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ال</a:t>
                      </a:r>
                      <a:r>
                        <a:rPr lang="ar-EG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مرجع</a:t>
                      </a:r>
                      <a:endParaRPr lang="ar-EG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التركيز الأساسي</a:t>
                      </a:r>
                      <a:endParaRPr lang="ar-EG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ال</a:t>
                      </a:r>
                      <a:r>
                        <a:rPr lang="ar-EG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نطاق</a:t>
                      </a:r>
                      <a:endParaRPr lang="ar-EG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نقاط القوة الرئيسية</a:t>
                      </a:r>
                      <a:endParaRPr lang="ar-EG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نقاط الضعف المحددة</a:t>
                      </a:r>
                      <a:endParaRPr lang="ar-EG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24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raditional Arabic" panose="02020603050405020304" pitchFamily="18" charset="-78"/>
                          <a:ea typeface="+mn-ea"/>
                          <a:cs typeface="Traditional Arabic" panose="02020603050405020304" pitchFamily="18" charset="-78"/>
                        </a:rPr>
                        <a:t>إصلاح الضعف</a:t>
                      </a:r>
                      <a:endParaRPr lang="ar-EG"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906668"/>
                  </a:ext>
                </a:extLst>
              </a:tr>
              <a:tr h="2479661"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 err="1"/>
                        <a:t>Ridhab</a:t>
                      </a:r>
                      <a:r>
                        <a:rPr lang="en-US" sz="2000" dirty="0"/>
                        <a:t>. (2018)</a:t>
                      </a:r>
                      <a:endParaRPr lang="ar-EG" sz="2000" dirty="0"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أتمتة سير العمل الشاملة</a:t>
                      </a:r>
                      <a:endParaRPr lang="ar-EG" sz="2000" dirty="0"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مرتفع (تشغيل مستشفى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 </a:t>
                      </a: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كامل)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تكامل عميق لجميع الأقسام الأساسية, مخططات مفصلة. 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Microsoft YaHe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-</a:t>
                      </a: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لا توجد تنبيهات لانتهاء صلاحية الدواء. 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-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لا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يوجد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بوابة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ويب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للمرض</a:t>
                      </a:r>
                      <a:r>
                        <a:rPr lang="ar-SA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ى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0" indent="0" algn="r" rtl="1">
                        <a:buFontTx/>
                        <a:buNone/>
                      </a:pPr>
                      <a:endParaRPr lang="ar-EG" sz="2000" dirty="0">
                        <a:latin typeface="Traditional Arabic" panose="02020603050405020304" pitchFamily="18" charset="-78"/>
                        <a:cs typeface="Traditional Arabic" panose="02020603050405020304" pitchFamily="18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+mn-lt"/>
                        </a:rPr>
                        <a:t>اضافة حقل "تاريخ الانتهاء" للدواء وتنبيه يومي. تطوير بوابة ويب للمريض لعرض السجل الطبي والمواعيد والأدوية. 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617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جدول 2"/>
          <p:cNvGraphicFramePr/>
          <p:nvPr>
            <p:extLst>
              <p:ext uri="{D42A27DB-BD31-4B8C-83A1-F6EECF244321}">
                <p14:modId xmlns:p14="http://schemas.microsoft.com/office/powerpoint/2010/main" val="4285430529"/>
              </p:ext>
            </p:extLst>
          </p:nvPr>
        </p:nvGraphicFramePr>
        <p:xfrm>
          <a:off x="960" y="601579"/>
          <a:ext cx="12191040" cy="5181672"/>
        </p:xfrm>
        <a:graphic>
          <a:graphicData uri="http://schemas.openxmlformats.org/drawingml/2006/table">
            <a:tbl>
              <a:tblPr/>
              <a:tblGrid>
                <a:gridCol w="281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5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7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83632"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سنضيف المزيد من الوحدات (المريض، الطبيب، الصيدلية، الفواتير، المختبرات).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نطاق محدود جدًا.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فقط المواعيدز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استخدام تقنيات حديثة. تركيز قوي على راحة المريض في الحجز. توثيق جيد. 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منخفض (المواعيد والمعلومات)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الخدمات الإلكترونية الموجهة للمرضى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Rahman (2022)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5486"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تصميم نظام متكامل ووحدوي. ربط الوحدات الأساسية (مثل: ظهور الوصفة في الصيدلية وتأثيرها على الفاتورة تلقائيًا). 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ar-SA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يفتقر للتكامل مع الخدمات المساعدة (الفواتير، المختبر، المخزون). 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فصل واضح بين وحدات المريض، الطبيب، والإدارة. يشمل ميزات السجل الطبي والوصفات الطبية.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متوسط (التفاعلات السريرية الأساسية)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الوصول المستند إلى الدور والوظائف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Tuhin (2023)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5600"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إضافة وحدة لإدارة الأصول لتسجيل المعدات الرئيسية وتتبع تاريخ الشراء وجدول الصيانة. 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</a:t>
                      </a: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لا توجد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تنبيهات لانتهاء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صلاحية الأدوية 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-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استبعاد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أقسام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مثل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الأمن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والأصول</a:t>
                      </a: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ar-EG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معالجة مباشرة لمشاكل النظام الورقي. تقسيم وحدات عملي وواضح. 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متوسط (الاستقبال، الطبيب، الصيدلية)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ar-EG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رقمنة نظام يدوي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Adebisi (2015)</a:t>
                      </a: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 rtl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93280" y="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571680" indent="-571680" algn="r" defTabSz="914400" rtl="1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ar-EG" sz="4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المنهجية المستخدمة: 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Agile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92960" y="791640"/>
            <a:ext cx="11886840" cy="599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 rtl="1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lang="ar-EG" sz="36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نهج تكرارى وتدريجي يركز على التسليم المستمر لقيم للمستخدمين من خلال تقسيم المشروع إلى دورات تطوير قصيرة</a:t>
            </a:r>
            <a:r>
              <a:rPr lang="en-US" sz="3600" b="0" u="none" strike="noStrike">
                <a:solidFill>
                  <a:srgbClr val="C00000"/>
                </a:solidFill>
                <a:effectLst/>
                <a:uFillTx/>
                <a:latin typeface="Traditional Arabic"/>
              </a:rPr>
              <a:t>(Sprints)</a:t>
            </a:r>
            <a:r>
              <a:rPr lang="ar-EG" sz="3600" b="0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مع التغذية الراجعة المستمرة بالاضافة الى المرونة العالية في مواجهة المتغيرات والمتطلبات الجديدة.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algn="r" defTabSz="914400" rtl="1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ar-SA" sz="48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الأدوات المستخدمة :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 defTabSz="914400" rtl="1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HTML5/CSS/JAVASCRIPT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 defTabSz="914400" rtl="1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C# / ASP.NET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r" defTabSz="914400" rtl="1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SQL SERVER 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صورة 1"/>
          <p:cNvSpPr/>
          <p:nvPr/>
        </p:nvSpPr>
        <p:spPr>
          <a:xfrm>
            <a:off x="192960" y="2547360"/>
            <a:ext cx="3130200" cy="21927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صورة 2"/>
          <p:cNvSpPr/>
          <p:nvPr/>
        </p:nvSpPr>
        <p:spPr>
          <a:xfrm>
            <a:off x="3228840" y="2509920"/>
            <a:ext cx="3226320" cy="219276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صورة 5"/>
          <p:cNvSpPr/>
          <p:nvPr/>
        </p:nvSpPr>
        <p:spPr>
          <a:xfrm>
            <a:off x="1828800" y="4740120"/>
            <a:ext cx="3322800" cy="193104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2415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571680" indent="-571680" algn="r" defTabSz="914400" rtl="1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ar-EG" sz="44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مراحل المشروع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Traditional Arabic"/>
              </a:rPr>
              <a:t>: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791558675"/>
              </p:ext>
            </p:extLst>
          </p:nvPr>
        </p:nvGraphicFramePr>
        <p:xfrm>
          <a:off x="1540800" y="4991815"/>
          <a:ext cx="9109440" cy="207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4" name="TextBox 15"/>
          <p:cNvSpPr/>
          <p:nvPr/>
        </p:nvSpPr>
        <p:spPr>
          <a:xfrm>
            <a:off x="1218960" y="1176840"/>
            <a:ext cx="10134000" cy="3814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 algn="just" defTabSz="914400" rtl="1">
              <a:lnSpc>
                <a:spcPct val="150000"/>
              </a:lnSpc>
              <a:buClr>
                <a:srgbClr val="4472C4"/>
              </a:buClr>
              <a:buFont typeface="Calibri Light"/>
              <a:buAutoNum type="arabicPeriod"/>
            </a:pPr>
            <a:r>
              <a:rPr lang="ar-EG" sz="3200" b="1" u="none" strike="noStrike" dirty="0">
                <a:solidFill>
                  <a:schemeClr val="accent1"/>
                </a:solidFill>
                <a:effectLst/>
                <a:uFillTx/>
                <a:latin typeface="Traditional Arabic"/>
                <a:cs typeface="Traditional Arabic"/>
              </a:rPr>
              <a:t>الدراسة والتخطيط</a:t>
            </a:r>
            <a:r>
              <a:rPr lang="en-US" sz="3200" b="0" u="none" strike="noStrike" dirty="0">
                <a:solidFill>
                  <a:schemeClr val="accent1"/>
                </a:solidFill>
                <a:effectLst/>
                <a:uFillTx/>
                <a:latin typeface="Traditional Arabic"/>
              </a:rPr>
              <a:t> </a:t>
            </a: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Traditional Arabic"/>
              </a:rPr>
              <a:t>:</a:t>
            </a:r>
            <a:r>
              <a:rPr lang="ar-EG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تحديد الرؤية والأهداف الرئيسية والمتطلبات الأساسية</a:t>
            </a:r>
            <a:endParaRPr lang="en-US" sz="280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514440" indent="-514440" algn="just" defTabSz="914400" rtl="1">
              <a:lnSpc>
                <a:spcPct val="150000"/>
              </a:lnSpc>
              <a:buClr>
                <a:srgbClr val="4472C4"/>
              </a:buClr>
              <a:buFont typeface="Calibri Light"/>
              <a:buAutoNum type="arabicPeriod"/>
            </a:pPr>
            <a:r>
              <a:rPr lang="ar-EG" sz="3200" b="1" u="none" strike="noStrike" dirty="0">
                <a:solidFill>
                  <a:schemeClr val="accent1"/>
                </a:solidFill>
                <a:effectLst/>
                <a:uFillTx/>
                <a:latin typeface="Traditional Arabic"/>
                <a:cs typeface="Traditional Arabic"/>
              </a:rPr>
              <a:t>التحليل : </a:t>
            </a:r>
            <a:r>
              <a:rPr lang="ar-EG" sz="280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تفصيل المتطلبات وتحليل احتياجات المستخدمين والنظام</a:t>
            </a:r>
            <a:endParaRPr lang="en-US" sz="28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indent="-514440" algn="just" defTabSz="914400" rtl="1">
              <a:lnSpc>
                <a:spcPct val="150000"/>
              </a:lnSpc>
              <a:buClr>
                <a:srgbClr val="4472C4"/>
              </a:buClr>
              <a:buFont typeface="Calibri Light"/>
              <a:buAutoNum type="arabicPeriod"/>
            </a:pPr>
            <a:r>
              <a:rPr lang="ar-EG" sz="3200" b="1" u="none" strike="noStrike" dirty="0">
                <a:solidFill>
                  <a:schemeClr val="accent1"/>
                </a:solidFill>
                <a:effectLst/>
                <a:uFillTx/>
                <a:latin typeface="Traditional Arabic"/>
                <a:cs typeface="Traditional Arabic"/>
              </a:rPr>
              <a:t>التصميم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</a:rPr>
              <a:t> :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وضع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الهيكل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العام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وواجهات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المستخدم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وتصميم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القواعد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البيانات</a:t>
            </a:r>
            <a:endParaRPr lang="en-US" sz="280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514440" indent="-514440" algn="just" defTabSz="914400" rtl="1">
              <a:lnSpc>
                <a:spcPct val="150000"/>
              </a:lnSpc>
              <a:buClr>
                <a:srgbClr val="4472C4"/>
              </a:buClr>
              <a:buFont typeface="Calibri Light"/>
              <a:buAutoNum type="arabicPeriod"/>
            </a:pPr>
            <a:r>
              <a:rPr lang="ar-EG" sz="3200" b="1" u="none" strike="noStrike" dirty="0">
                <a:solidFill>
                  <a:schemeClr val="accent1"/>
                </a:solidFill>
                <a:effectLst/>
                <a:uFillTx/>
                <a:latin typeface="Traditional Arabic"/>
                <a:cs typeface="Traditional Arabic"/>
              </a:rPr>
              <a:t>التنفيذ</a:t>
            </a:r>
            <a:r>
              <a:rPr lang="en-US" sz="3200" u="none" strike="noStrike" dirty="0">
                <a:solidFill>
                  <a:schemeClr val="dk1"/>
                </a:solidFill>
                <a:effectLst/>
                <a:uFillTx/>
                <a:latin typeface="Traditional Arabic"/>
              </a:rPr>
              <a:t> :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البرمجة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الفعلية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وبناء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النظام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وفقاً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لمتطلبات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u="none" strike="noStrike" dirty="0" err="1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</a:t>
            </a: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Traditional Arabic" panose="02020603050405020304" pitchFamily="18" charset="-78"/>
                <a:cs typeface="Traditional Arabic" panose="02020603050405020304" pitchFamily="18" charset="-78"/>
              </a:rPr>
              <a:t>Sprint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514440" indent="-514440" algn="just" defTabSz="914400" rtl="1">
              <a:lnSpc>
                <a:spcPct val="150000"/>
              </a:lnSpc>
              <a:buClr>
                <a:srgbClr val="4472C4"/>
              </a:buClr>
              <a:buFont typeface="Calibri Light"/>
              <a:buAutoNum type="arabicPeriod"/>
            </a:pPr>
            <a:r>
              <a:rPr lang="ar-EG" sz="3200" b="1" u="none" strike="noStrike" dirty="0">
                <a:solidFill>
                  <a:schemeClr val="accent1"/>
                </a:solidFill>
                <a:effectLst/>
                <a:uFillTx/>
                <a:latin typeface="Traditional Arabic"/>
                <a:cs typeface="Traditional Arabic"/>
              </a:rPr>
              <a:t>الاختبار والتقييم : </a:t>
            </a:r>
            <a:r>
              <a:rPr lang="ar-EG" sz="280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اختبار كل وظيفة والتأكد من مطابقتها للمتطلبات وجودة الأداء</a:t>
            </a:r>
            <a:endParaRPr lang="en-US" sz="32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676520" y="9288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571680" indent="-571680" algn="r" defTabSz="914400" rtl="1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Gantt Chart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عنصر نائب للمحتوى 3"/>
          <p:cNvPicPr/>
          <p:nvPr/>
        </p:nvPicPr>
        <p:blipFill>
          <a:blip r:embed="rId2"/>
          <a:stretch/>
        </p:blipFill>
        <p:spPr>
          <a:xfrm>
            <a:off x="0" y="1177560"/>
            <a:ext cx="12015000" cy="543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مستطيل 10"/>
          <p:cNvSpPr/>
          <p:nvPr/>
        </p:nvSpPr>
        <p:spPr>
          <a:xfrm>
            <a:off x="4800600" y="3417120"/>
            <a:ext cx="100224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FINISHED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مستطيل 11"/>
          <p:cNvSpPr/>
          <p:nvPr/>
        </p:nvSpPr>
        <p:spPr>
          <a:xfrm>
            <a:off x="5486400" y="2743200"/>
            <a:ext cx="112320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FINISHED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مستطيل 12"/>
          <p:cNvSpPr/>
          <p:nvPr/>
        </p:nvSpPr>
        <p:spPr>
          <a:xfrm>
            <a:off x="6326640" y="2163960"/>
            <a:ext cx="95184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FINISHED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1591</TotalTime>
  <Words>610</Words>
  <Application>Microsoft Office PowerPoint</Application>
  <PresentationFormat>Widescreen</PresentationFormat>
  <Paragraphs>86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Traditional Arabic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مقارنة مشاريع مراكز صحية سابقة:</vt:lpstr>
      <vt:lpstr>PowerPoint Presentation</vt:lpstr>
      <vt:lpstr>المنهجية المستخدمة: Agile</vt:lpstr>
      <vt:lpstr>مراحل المشروع:</vt:lpstr>
      <vt:lpstr>Gantt 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كلية هندسة الذكاء الصنعي</dc:title>
  <dc:subject/>
  <dc:creator>Abdullrhman SPU</dc:creator>
  <dc:description/>
  <cp:lastModifiedBy>Abdullrhman SPU</cp:lastModifiedBy>
  <cp:revision>51</cp:revision>
  <dcterms:created xsi:type="dcterms:W3CDTF">2025-11-12T11:05:19Z</dcterms:created>
  <dcterms:modified xsi:type="dcterms:W3CDTF">2025-11-17T07:42:22Z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شاشة عريضة</vt:lpwstr>
  </property>
  <property fmtid="{D5CDD505-2E9C-101B-9397-08002B2CF9AE}" pid="4" name="Slides">
    <vt:i4>10</vt:i4>
  </property>
</Properties>
</file>